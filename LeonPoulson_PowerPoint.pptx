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Lst>
  <p:sldSz cx="18288000" cy="10287000"/>
  <p:notesSz cx="6858000" cy="9144000"/>
  <p:embeddedFontLst>
    <p:embeddedFont>
      <p:font typeface="Antonio Ultra-Bold" charset="1" panose="02000803000000000000"/>
      <p:regular r:id="rId13"/>
    </p:embeddedFont>
    <p:embeddedFont>
      <p:font typeface="Raleway" charset="1" panose="00000000000000000000"/>
      <p:regular r:id="rId14"/>
    </p:embeddedFont>
    <p:embeddedFont>
      <p:font typeface="Raleway Medium" charset="1" panose="00000000000000000000"/>
      <p:regular r:id="rId15"/>
    </p:embeddedFont>
    <p:embeddedFont>
      <p:font typeface="Antonio" charset="1" panose="02000503000000000000"/>
      <p:regular r:id="rId1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fonts/font13.fntdata" Type="http://schemas.openxmlformats.org/officeDocument/2006/relationships/font"/><Relationship Id="rId14" Target="fonts/font14.fntdata" Type="http://schemas.openxmlformats.org/officeDocument/2006/relationships/font"/><Relationship Id="rId15" Target="fonts/font15.fntdata" Type="http://schemas.openxmlformats.org/officeDocument/2006/relationships/font"/><Relationship Id="rId16" Target="fonts/font16.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png" Type="http://schemas.openxmlformats.org/officeDocument/2006/relationships/image"/><Relationship Id="rId4" Target="../media/image4.png" Type="http://schemas.openxmlformats.org/officeDocument/2006/relationships/image"/><Relationship Id="rId5" Target="../media/image5.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703750" y="6389205"/>
            <a:ext cx="19408491" cy="4562173"/>
          </a:xfrm>
          <a:prstGeom prst="rect">
            <a:avLst/>
          </a:prstGeom>
        </p:spPr>
        <p:txBody>
          <a:bodyPr anchor="t" rtlCol="false" tIns="0" lIns="0" bIns="0" rIns="0">
            <a:spAutoFit/>
          </a:bodyPr>
          <a:lstStyle/>
          <a:p>
            <a:pPr algn="ctr">
              <a:lnSpc>
                <a:spcPts val="34530"/>
              </a:lnSpc>
            </a:pPr>
            <a:r>
              <a:rPr lang="en-US" b="true" sz="33525" spc="2045">
                <a:solidFill>
                  <a:srgbClr val="000000"/>
                </a:solidFill>
                <a:latin typeface="Antonio Ultra-Bold"/>
                <a:ea typeface="Antonio Ultra-Bold"/>
                <a:cs typeface="Antonio Ultra-Bold"/>
                <a:sym typeface="Antonio Ultra-Bold"/>
              </a:rPr>
              <a:t>EMPORIUM</a:t>
            </a:r>
          </a:p>
        </p:txBody>
      </p:sp>
      <p:sp>
        <p:nvSpPr>
          <p:cNvPr name="TextBox 3" id="3"/>
          <p:cNvSpPr txBox="true"/>
          <p:nvPr/>
        </p:nvSpPr>
        <p:spPr>
          <a:xfrm rot="0">
            <a:off x="1028700" y="962025"/>
            <a:ext cx="3844690" cy="539607"/>
          </a:xfrm>
          <a:prstGeom prst="rect">
            <a:avLst/>
          </a:prstGeom>
        </p:spPr>
        <p:txBody>
          <a:bodyPr anchor="t" rtlCol="false" tIns="0" lIns="0" bIns="0" rIns="0">
            <a:spAutoFit/>
          </a:bodyPr>
          <a:lstStyle/>
          <a:p>
            <a:pPr algn="l" marL="0" indent="0" lvl="0">
              <a:lnSpc>
                <a:spcPts val="4382"/>
              </a:lnSpc>
              <a:spcBef>
                <a:spcPct val="0"/>
              </a:spcBef>
            </a:pPr>
            <a:r>
              <a:rPr lang="en-US" sz="3130" spc="300">
                <a:solidFill>
                  <a:srgbClr val="000000"/>
                </a:solidFill>
                <a:latin typeface="Raleway"/>
                <a:ea typeface="Raleway"/>
                <a:cs typeface="Raleway"/>
                <a:sym typeface="Raleway"/>
              </a:rPr>
              <a:t>LEON POULSON</a:t>
            </a:r>
          </a:p>
        </p:txBody>
      </p:sp>
      <p:sp>
        <p:nvSpPr>
          <p:cNvPr name="TextBox 4" id="4"/>
          <p:cNvSpPr txBox="true"/>
          <p:nvPr/>
        </p:nvSpPr>
        <p:spPr>
          <a:xfrm rot="0">
            <a:off x="14213859" y="962025"/>
            <a:ext cx="3045441" cy="539607"/>
          </a:xfrm>
          <a:prstGeom prst="rect">
            <a:avLst/>
          </a:prstGeom>
        </p:spPr>
        <p:txBody>
          <a:bodyPr anchor="t" rtlCol="false" tIns="0" lIns="0" bIns="0" rIns="0">
            <a:spAutoFit/>
          </a:bodyPr>
          <a:lstStyle/>
          <a:p>
            <a:pPr algn="r" marL="0" indent="0" lvl="0">
              <a:lnSpc>
                <a:spcPts val="4382"/>
              </a:lnSpc>
              <a:spcBef>
                <a:spcPct val="0"/>
              </a:spcBef>
            </a:pPr>
            <a:r>
              <a:rPr lang="en-US" sz="3130" spc="300">
                <a:solidFill>
                  <a:srgbClr val="000000"/>
                </a:solidFill>
                <a:latin typeface="Raleway"/>
                <a:ea typeface="Raleway"/>
                <a:cs typeface="Raleway"/>
                <a:sym typeface="Raleway"/>
              </a:rPr>
              <a:t>6/26/2026</a:t>
            </a:r>
          </a:p>
        </p:txBody>
      </p:sp>
      <p:sp>
        <p:nvSpPr>
          <p:cNvPr name="TextBox 5" id="5"/>
          <p:cNvSpPr txBox="true"/>
          <p:nvPr/>
        </p:nvSpPr>
        <p:spPr>
          <a:xfrm rot="0">
            <a:off x="1028700" y="5770080"/>
            <a:ext cx="16230600" cy="597864"/>
          </a:xfrm>
          <a:prstGeom prst="rect">
            <a:avLst/>
          </a:prstGeom>
        </p:spPr>
        <p:txBody>
          <a:bodyPr anchor="t" rtlCol="false" tIns="0" lIns="0" bIns="0" rIns="0">
            <a:spAutoFit/>
          </a:bodyPr>
          <a:lstStyle/>
          <a:p>
            <a:pPr algn="ctr" marL="0" indent="0" lvl="0">
              <a:lnSpc>
                <a:spcPts val="4846"/>
              </a:lnSpc>
              <a:spcBef>
                <a:spcPct val="0"/>
              </a:spcBef>
            </a:pPr>
            <a:r>
              <a:rPr lang="en-US" sz="3462" spc="1107">
                <a:solidFill>
                  <a:srgbClr val="000000"/>
                </a:solidFill>
                <a:latin typeface="Raleway"/>
                <a:ea typeface="Raleway"/>
                <a:cs typeface="Raleway"/>
                <a:sym typeface="Raleway"/>
              </a:rPr>
              <a:t>AN ANALYSIS OF </a:t>
            </a:r>
          </a:p>
        </p:txBody>
      </p:sp>
    </p:spTree>
  </p:cSld>
  <p:clrMapOvr>
    <a:masterClrMapping/>
  </p:clrMapOvr>
</p:sld>
</file>

<file path=ppt/slides/slide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66675" y="8051800"/>
            <a:ext cx="17192625" cy="2727326"/>
          </a:xfrm>
          <a:prstGeom prst="rect">
            <a:avLst/>
          </a:prstGeom>
        </p:spPr>
        <p:txBody>
          <a:bodyPr anchor="t" rtlCol="false" tIns="0" lIns="0" bIns="0" rIns="0">
            <a:spAutoFit/>
          </a:bodyPr>
          <a:lstStyle/>
          <a:p>
            <a:pPr algn="l" marL="0" indent="0" lvl="0">
              <a:lnSpc>
                <a:spcPts val="20600"/>
              </a:lnSpc>
              <a:spcBef>
                <a:spcPct val="0"/>
              </a:spcBef>
            </a:pPr>
            <a:r>
              <a:rPr lang="en-US" b="true" sz="20000" spc="740">
                <a:solidFill>
                  <a:srgbClr val="000000"/>
                </a:solidFill>
                <a:latin typeface="Antonio Ultra-Bold"/>
                <a:ea typeface="Antonio Ultra-Bold"/>
                <a:cs typeface="Antonio Ultra-Bold"/>
                <a:sym typeface="Antonio Ultra-Bold"/>
              </a:rPr>
              <a:t>SI</a:t>
            </a:r>
            <a:r>
              <a:rPr lang="en-US" b="true" sz="20000" spc="740" strike="noStrike" u="none">
                <a:solidFill>
                  <a:srgbClr val="000000"/>
                </a:solidFill>
                <a:latin typeface="Antonio Ultra-Bold"/>
                <a:ea typeface="Antonio Ultra-Bold"/>
                <a:cs typeface="Antonio Ultra-Bold"/>
                <a:sym typeface="Antonio Ultra-Bold"/>
              </a:rPr>
              <a:t>TUATION</a:t>
            </a:r>
          </a:p>
        </p:txBody>
      </p:sp>
      <p:sp>
        <p:nvSpPr>
          <p:cNvPr name="TextBox 3" id="3"/>
          <p:cNvSpPr txBox="true"/>
          <p:nvPr/>
        </p:nvSpPr>
        <p:spPr>
          <a:xfrm rot="0">
            <a:off x="2225510" y="2162631"/>
            <a:ext cx="9760786" cy="1755675"/>
          </a:xfrm>
          <a:prstGeom prst="rect">
            <a:avLst/>
          </a:prstGeom>
        </p:spPr>
        <p:txBody>
          <a:bodyPr anchor="t" rtlCol="false" tIns="0" lIns="0" bIns="0" rIns="0">
            <a:spAutoFit/>
          </a:bodyPr>
          <a:lstStyle/>
          <a:p>
            <a:pPr algn="l">
              <a:lnSpc>
                <a:spcPts val="3505"/>
              </a:lnSpc>
            </a:pPr>
            <a:r>
              <a:rPr lang="en-US" sz="2503" spc="50">
                <a:solidFill>
                  <a:srgbClr val="000000"/>
                </a:solidFill>
                <a:latin typeface="Raleway"/>
                <a:ea typeface="Raleway"/>
                <a:cs typeface="Raleway"/>
                <a:sym typeface="Raleway"/>
              </a:rPr>
              <a:t>I was tasked with taking a look at EmporiUm’s sales data from the year 2022 to 2025. My task, see what trends we can capitalize on, different insights I can offer as well as seeing who their top authors are. </a:t>
            </a:r>
          </a:p>
        </p:txBody>
      </p:sp>
      <p:sp>
        <p:nvSpPr>
          <p:cNvPr name="TextBox 4" id="4"/>
          <p:cNvSpPr txBox="true"/>
          <p:nvPr/>
        </p:nvSpPr>
        <p:spPr>
          <a:xfrm rot="0">
            <a:off x="1028700" y="770327"/>
            <a:ext cx="3497259" cy="450072"/>
          </a:xfrm>
          <a:prstGeom prst="rect">
            <a:avLst/>
          </a:prstGeom>
        </p:spPr>
        <p:txBody>
          <a:bodyPr anchor="t" rtlCol="false" tIns="0" lIns="0" bIns="0" rIns="0">
            <a:spAutoFit/>
          </a:bodyPr>
          <a:lstStyle/>
          <a:p>
            <a:pPr algn="l" marL="0" indent="0" lvl="0">
              <a:lnSpc>
                <a:spcPts val="3542"/>
              </a:lnSpc>
              <a:spcBef>
                <a:spcPct val="0"/>
              </a:spcBef>
            </a:pPr>
            <a:r>
              <a:rPr lang="en-US" sz="2530" spc="242">
                <a:solidFill>
                  <a:srgbClr val="000000"/>
                </a:solidFill>
                <a:latin typeface="Raleway"/>
                <a:ea typeface="Raleway"/>
                <a:cs typeface="Raleway"/>
                <a:sym typeface="Raleway"/>
              </a:rPr>
              <a:t>EQUIPO 5</a:t>
            </a:r>
          </a:p>
        </p:txBody>
      </p:sp>
      <p:sp>
        <p:nvSpPr>
          <p:cNvPr name="TextBox 5" id="5"/>
          <p:cNvSpPr txBox="true"/>
          <p:nvPr/>
        </p:nvSpPr>
        <p:spPr>
          <a:xfrm rot="0">
            <a:off x="14213859" y="770327"/>
            <a:ext cx="3045441" cy="450072"/>
          </a:xfrm>
          <a:prstGeom prst="rect">
            <a:avLst/>
          </a:prstGeom>
        </p:spPr>
        <p:txBody>
          <a:bodyPr anchor="t" rtlCol="false" tIns="0" lIns="0" bIns="0" rIns="0">
            <a:spAutoFit/>
          </a:bodyPr>
          <a:lstStyle/>
          <a:p>
            <a:pPr algn="r" marL="0" indent="0" lvl="0">
              <a:lnSpc>
                <a:spcPts val="3542"/>
              </a:lnSpc>
              <a:spcBef>
                <a:spcPct val="0"/>
              </a:spcBef>
            </a:pPr>
            <a:r>
              <a:rPr lang="en-US" sz="2530" spc="242">
                <a:solidFill>
                  <a:srgbClr val="000000"/>
                </a:solidFill>
                <a:latin typeface="Raleway"/>
                <a:ea typeface="Raleway"/>
                <a:cs typeface="Raleway"/>
                <a:sym typeface="Raleway"/>
              </a:rPr>
              <a:t>15.10.2030</a:t>
            </a:r>
          </a:p>
        </p:txBody>
      </p:sp>
      <p:sp>
        <p:nvSpPr>
          <p:cNvPr name="TextBox 6" id="6"/>
          <p:cNvSpPr txBox="true"/>
          <p:nvPr/>
        </p:nvSpPr>
        <p:spPr>
          <a:xfrm rot="0">
            <a:off x="7604492" y="4005912"/>
            <a:ext cx="9760786" cy="879375"/>
          </a:xfrm>
          <a:prstGeom prst="rect">
            <a:avLst/>
          </a:prstGeom>
        </p:spPr>
        <p:txBody>
          <a:bodyPr anchor="t" rtlCol="false" tIns="0" lIns="0" bIns="0" rIns="0">
            <a:spAutoFit/>
          </a:bodyPr>
          <a:lstStyle/>
          <a:p>
            <a:pPr algn="r">
              <a:lnSpc>
                <a:spcPts val="3505"/>
              </a:lnSpc>
            </a:pPr>
            <a:r>
              <a:rPr lang="en-US" b="true" sz="2503" spc="50">
                <a:solidFill>
                  <a:srgbClr val="000000"/>
                </a:solidFill>
                <a:latin typeface="Raleway Medium"/>
                <a:ea typeface="Raleway Medium"/>
                <a:cs typeface="Raleway Medium"/>
                <a:sym typeface="Raleway Medium"/>
              </a:rPr>
              <a:t>I was assigned the Northeast Region that included Maine, Massachusetts, Maryland and New Jersey.</a:t>
            </a:r>
          </a:p>
        </p:txBody>
      </p:sp>
    </p:spTree>
  </p:cSld>
  <p:clrMapOvr>
    <a:masterClrMapping/>
  </p:clrMapOvr>
</p:sld>
</file>

<file path=ppt/slides/slide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0" y="-177800"/>
            <a:ext cx="16270794" cy="2727326"/>
          </a:xfrm>
          <a:prstGeom prst="rect">
            <a:avLst/>
          </a:prstGeom>
        </p:spPr>
        <p:txBody>
          <a:bodyPr anchor="t" rtlCol="false" tIns="0" lIns="0" bIns="0" rIns="0">
            <a:spAutoFit/>
          </a:bodyPr>
          <a:lstStyle/>
          <a:p>
            <a:pPr algn="just" marL="0" indent="0" lvl="0">
              <a:lnSpc>
                <a:spcPts val="20600"/>
              </a:lnSpc>
              <a:spcBef>
                <a:spcPct val="0"/>
              </a:spcBef>
            </a:pPr>
            <a:r>
              <a:rPr lang="en-US" b="true" sz="20000" spc="740">
                <a:solidFill>
                  <a:srgbClr val="000000"/>
                </a:solidFill>
                <a:latin typeface="Antonio Ultra-Bold"/>
                <a:ea typeface="Antonio Ultra-Bold"/>
                <a:cs typeface="Antonio Ultra-Bold"/>
                <a:sym typeface="Antonio Ultra-Bold"/>
              </a:rPr>
              <a:t>TOP BOOKS</a:t>
            </a:r>
          </a:p>
        </p:txBody>
      </p:sp>
      <p:sp>
        <p:nvSpPr>
          <p:cNvPr name="TextBox 3" id="3"/>
          <p:cNvSpPr txBox="true"/>
          <p:nvPr/>
        </p:nvSpPr>
        <p:spPr>
          <a:xfrm rot="0">
            <a:off x="6034557" y="3538914"/>
            <a:ext cx="7238129" cy="1755675"/>
          </a:xfrm>
          <a:prstGeom prst="rect">
            <a:avLst/>
          </a:prstGeom>
        </p:spPr>
        <p:txBody>
          <a:bodyPr anchor="t" rtlCol="false" tIns="0" lIns="0" bIns="0" rIns="0">
            <a:spAutoFit/>
          </a:bodyPr>
          <a:lstStyle/>
          <a:p>
            <a:pPr algn="l">
              <a:lnSpc>
                <a:spcPts val="3505"/>
              </a:lnSpc>
            </a:pPr>
            <a:r>
              <a:rPr lang="en-US" sz="2503" spc="50">
                <a:solidFill>
                  <a:srgbClr val="000000"/>
                </a:solidFill>
                <a:latin typeface="Raleway"/>
                <a:ea typeface="Raleway"/>
                <a:cs typeface="Raleway"/>
                <a:sym typeface="Raleway"/>
              </a:rPr>
              <a:t>During my journey in discovering the different trends within the different  quarters over the years. I have discovered 5 overall bestsellers for the Northeast region of EmporiUm. </a:t>
            </a:r>
          </a:p>
        </p:txBody>
      </p:sp>
      <p:sp>
        <p:nvSpPr>
          <p:cNvPr name="TextBox 4" id="4"/>
          <p:cNvSpPr txBox="true"/>
          <p:nvPr/>
        </p:nvSpPr>
        <p:spPr>
          <a:xfrm rot="0">
            <a:off x="14213859" y="8999927"/>
            <a:ext cx="3045441" cy="450072"/>
          </a:xfrm>
          <a:prstGeom prst="rect">
            <a:avLst/>
          </a:prstGeom>
        </p:spPr>
        <p:txBody>
          <a:bodyPr anchor="t" rtlCol="false" tIns="0" lIns="0" bIns="0" rIns="0">
            <a:spAutoFit/>
          </a:bodyPr>
          <a:lstStyle/>
          <a:p>
            <a:pPr algn="r" marL="0" indent="0" lvl="0">
              <a:lnSpc>
                <a:spcPts val="3542"/>
              </a:lnSpc>
              <a:spcBef>
                <a:spcPct val="0"/>
              </a:spcBef>
            </a:pPr>
            <a:r>
              <a:rPr lang="en-US" sz="2530" spc="242">
                <a:solidFill>
                  <a:srgbClr val="000000"/>
                </a:solidFill>
                <a:latin typeface="Raleway"/>
                <a:ea typeface="Raleway"/>
                <a:cs typeface="Raleway"/>
                <a:sym typeface="Raleway"/>
              </a:rPr>
              <a:t>15.10.2030</a:t>
            </a:r>
          </a:p>
        </p:txBody>
      </p:sp>
      <p:sp>
        <p:nvSpPr>
          <p:cNvPr name="TextBox 5" id="5"/>
          <p:cNvSpPr txBox="true"/>
          <p:nvPr/>
        </p:nvSpPr>
        <p:spPr>
          <a:xfrm rot="0">
            <a:off x="5001338" y="8051800"/>
            <a:ext cx="16270794" cy="2727326"/>
          </a:xfrm>
          <a:prstGeom prst="rect">
            <a:avLst/>
          </a:prstGeom>
        </p:spPr>
        <p:txBody>
          <a:bodyPr anchor="t" rtlCol="false" tIns="0" lIns="0" bIns="0" rIns="0">
            <a:spAutoFit/>
          </a:bodyPr>
          <a:lstStyle/>
          <a:p>
            <a:pPr algn="just" marL="0" indent="0" lvl="0">
              <a:lnSpc>
                <a:spcPts val="20600"/>
              </a:lnSpc>
              <a:spcBef>
                <a:spcPct val="0"/>
              </a:spcBef>
            </a:pPr>
            <a:r>
              <a:rPr lang="en-US" b="true" sz="20000" spc="740">
                <a:solidFill>
                  <a:srgbClr val="000000"/>
                </a:solidFill>
                <a:latin typeface="Antonio Ultra-Bold"/>
                <a:ea typeface="Antonio Ultra-Bold"/>
                <a:cs typeface="Antonio Ultra-Bold"/>
                <a:sym typeface="Antonio Ultra-Bold"/>
              </a:rPr>
              <a:t>AND AUTHORS</a:t>
            </a:r>
          </a:p>
        </p:txBody>
      </p:sp>
      <p:sp>
        <p:nvSpPr>
          <p:cNvPr name="TextBox 6" id="6"/>
          <p:cNvSpPr txBox="true"/>
          <p:nvPr/>
        </p:nvSpPr>
        <p:spPr>
          <a:xfrm rot="0">
            <a:off x="350285" y="2256264"/>
            <a:ext cx="7238129" cy="2193825"/>
          </a:xfrm>
          <a:prstGeom prst="rect">
            <a:avLst/>
          </a:prstGeom>
        </p:spPr>
        <p:txBody>
          <a:bodyPr anchor="t" rtlCol="false" tIns="0" lIns="0" bIns="0" rIns="0">
            <a:spAutoFit/>
          </a:bodyPr>
          <a:lstStyle/>
          <a:p>
            <a:pPr algn="just" marL="540600" indent="-270300" lvl="1">
              <a:lnSpc>
                <a:spcPts val="3505"/>
              </a:lnSpc>
              <a:buAutoNum type="arabicPeriod" startAt="1"/>
            </a:pPr>
            <a:r>
              <a:rPr lang="en-US" b="true" sz="2503" spc="50">
                <a:solidFill>
                  <a:srgbClr val="000000"/>
                </a:solidFill>
                <a:latin typeface="Raleway Medium"/>
                <a:ea typeface="Raleway Medium"/>
                <a:cs typeface="Raleway Medium"/>
                <a:sym typeface="Raleway Medium"/>
              </a:rPr>
              <a:t>Harry Potter and the Sorcerer’s Stone</a:t>
            </a:r>
          </a:p>
          <a:p>
            <a:pPr algn="just" marL="540600" indent="-270300" lvl="1">
              <a:lnSpc>
                <a:spcPts val="3505"/>
              </a:lnSpc>
              <a:buAutoNum type="arabicPeriod" startAt="1"/>
            </a:pPr>
            <a:r>
              <a:rPr lang="en-US" b="true" sz="2503" spc="50">
                <a:solidFill>
                  <a:srgbClr val="000000"/>
                </a:solidFill>
                <a:latin typeface="Raleway Medium"/>
                <a:ea typeface="Raleway Medium"/>
                <a:cs typeface="Raleway Medium"/>
                <a:sym typeface="Raleway Medium"/>
              </a:rPr>
              <a:t>Black Holes and Baby Universes</a:t>
            </a:r>
          </a:p>
          <a:p>
            <a:pPr algn="just" marL="540600" indent="-270300" lvl="1">
              <a:lnSpc>
                <a:spcPts val="3505"/>
              </a:lnSpc>
              <a:buAutoNum type="arabicPeriod" startAt="1"/>
            </a:pPr>
            <a:r>
              <a:rPr lang="en-US" b="true" sz="2503" spc="50">
                <a:solidFill>
                  <a:srgbClr val="000000"/>
                </a:solidFill>
                <a:latin typeface="Raleway Medium"/>
                <a:ea typeface="Raleway Medium"/>
                <a:cs typeface="Raleway Medium"/>
                <a:sym typeface="Raleway Medium"/>
              </a:rPr>
              <a:t>The Art of War</a:t>
            </a:r>
          </a:p>
          <a:p>
            <a:pPr algn="just" marL="540600" indent="-270300" lvl="1">
              <a:lnSpc>
                <a:spcPts val="3505"/>
              </a:lnSpc>
              <a:buAutoNum type="arabicPeriod" startAt="1"/>
            </a:pPr>
            <a:r>
              <a:rPr lang="en-US" b="true" sz="2503" spc="50">
                <a:solidFill>
                  <a:srgbClr val="000000"/>
                </a:solidFill>
                <a:latin typeface="Raleway Medium"/>
                <a:ea typeface="Raleway Medium"/>
                <a:cs typeface="Raleway Medium"/>
                <a:sym typeface="Raleway Medium"/>
              </a:rPr>
              <a:t>A Brief History of Time</a:t>
            </a:r>
          </a:p>
          <a:p>
            <a:pPr algn="just" marL="540600" indent="-270300" lvl="1">
              <a:lnSpc>
                <a:spcPts val="3505"/>
              </a:lnSpc>
              <a:buAutoNum type="arabicPeriod" startAt="1"/>
            </a:pPr>
            <a:r>
              <a:rPr lang="en-US" b="true" sz="2503" spc="50">
                <a:solidFill>
                  <a:srgbClr val="000000"/>
                </a:solidFill>
                <a:latin typeface="Raleway Medium"/>
                <a:ea typeface="Raleway Medium"/>
                <a:cs typeface="Raleway Medium"/>
                <a:sym typeface="Raleway Medium"/>
              </a:rPr>
              <a:t>Of Mice and Men</a:t>
            </a:r>
          </a:p>
        </p:txBody>
      </p:sp>
      <p:sp>
        <p:nvSpPr>
          <p:cNvPr name="TextBox 7" id="7"/>
          <p:cNvSpPr txBox="true"/>
          <p:nvPr/>
        </p:nvSpPr>
        <p:spPr>
          <a:xfrm rot="0">
            <a:off x="10853496" y="5716819"/>
            <a:ext cx="7238129" cy="2193825"/>
          </a:xfrm>
          <a:prstGeom prst="rect">
            <a:avLst/>
          </a:prstGeom>
        </p:spPr>
        <p:txBody>
          <a:bodyPr anchor="t" rtlCol="false" tIns="0" lIns="0" bIns="0" rIns="0">
            <a:spAutoFit/>
          </a:bodyPr>
          <a:lstStyle/>
          <a:p>
            <a:pPr algn="r" marL="540600" indent="-270300" lvl="1">
              <a:lnSpc>
                <a:spcPts val="3505"/>
              </a:lnSpc>
              <a:buAutoNum type="arabicPeriod" startAt="1"/>
            </a:pPr>
            <a:r>
              <a:rPr lang="en-US" b="true" sz="2503" spc="50">
                <a:solidFill>
                  <a:srgbClr val="000000"/>
                </a:solidFill>
                <a:latin typeface="Raleway Medium"/>
                <a:ea typeface="Raleway Medium"/>
                <a:cs typeface="Raleway Medium"/>
                <a:sym typeface="Raleway Medium"/>
              </a:rPr>
              <a:t>J.K Rowling</a:t>
            </a:r>
          </a:p>
          <a:p>
            <a:pPr algn="r" marL="540600" indent="-270300" lvl="1">
              <a:lnSpc>
                <a:spcPts val="3505"/>
              </a:lnSpc>
              <a:buAutoNum type="arabicPeriod" startAt="1"/>
            </a:pPr>
            <a:r>
              <a:rPr lang="en-US" b="true" sz="2503" spc="50">
                <a:solidFill>
                  <a:srgbClr val="000000"/>
                </a:solidFill>
                <a:latin typeface="Raleway Medium"/>
                <a:ea typeface="Raleway Medium"/>
                <a:cs typeface="Raleway Medium"/>
                <a:sym typeface="Raleway Medium"/>
              </a:rPr>
              <a:t>Stephen Hawking</a:t>
            </a:r>
          </a:p>
          <a:p>
            <a:pPr algn="r" marL="540600" indent="-270300" lvl="1">
              <a:lnSpc>
                <a:spcPts val="3505"/>
              </a:lnSpc>
              <a:buAutoNum type="arabicPeriod" startAt="1"/>
            </a:pPr>
            <a:r>
              <a:rPr lang="en-US" b="true" sz="2503" spc="50">
                <a:solidFill>
                  <a:srgbClr val="000000"/>
                </a:solidFill>
                <a:latin typeface="Raleway Medium"/>
                <a:ea typeface="Raleway Medium"/>
                <a:cs typeface="Raleway Medium"/>
                <a:sym typeface="Raleway Medium"/>
              </a:rPr>
              <a:t>Sun Tzu</a:t>
            </a:r>
          </a:p>
          <a:p>
            <a:pPr algn="r" marL="540600" indent="-270300" lvl="1">
              <a:lnSpc>
                <a:spcPts val="3505"/>
              </a:lnSpc>
              <a:buAutoNum type="arabicPeriod" startAt="1"/>
            </a:pPr>
            <a:r>
              <a:rPr lang="en-US" b="true" sz="2503" spc="50">
                <a:solidFill>
                  <a:srgbClr val="000000"/>
                </a:solidFill>
                <a:latin typeface="Raleway Medium"/>
                <a:ea typeface="Raleway Medium"/>
                <a:cs typeface="Raleway Medium"/>
                <a:sym typeface="Raleway Medium"/>
              </a:rPr>
              <a:t>Stephen Hawking</a:t>
            </a:r>
          </a:p>
          <a:p>
            <a:pPr algn="r" marL="540600" indent="-270300" lvl="1">
              <a:lnSpc>
                <a:spcPts val="3505"/>
              </a:lnSpc>
              <a:buAutoNum type="arabicPeriod" startAt="1"/>
            </a:pPr>
            <a:r>
              <a:rPr lang="en-US" b="true" sz="2503" spc="50">
                <a:solidFill>
                  <a:srgbClr val="000000"/>
                </a:solidFill>
                <a:latin typeface="Raleway Medium"/>
                <a:ea typeface="Raleway Medium"/>
                <a:cs typeface="Raleway Medium"/>
                <a:sym typeface="Raleway Medium"/>
              </a:rPr>
              <a:t>John Steinbeck</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7539" y="-177800"/>
            <a:ext cx="10147161" cy="2727326"/>
          </a:xfrm>
          <a:prstGeom prst="rect">
            <a:avLst/>
          </a:prstGeom>
        </p:spPr>
        <p:txBody>
          <a:bodyPr anchor="t" rtlCol="false" tIns="0" lIns="0" bIns="0" rIns="0">
            <a:spAutoFit/>
          </a:bodyPr>
          <a:lstStyle/>
          <a:p>
            <a:pPr algn="l" marL="0" indent="0" lvl="0">
              <a:lnSpc>
                <a:spcPts val="20600"/>
              </a:lnSpc>
              <a:spcBef>
                <a:spcPct val="0"/>
              </a:spcBef>
            </a:pPr>
            <a:r>
              <a:rPr lang="en-US" b="true" sz="20000" spc="740">
                <a:solidFill>
                  <a:srgbClr val="000000"/>
                </a:solidFill>
                <a:latin typeface="Antonio Ultra-Bold"/>
                <a:ea typeface="Antonio Ultra-Bold"/>
                <a:cs typeface="Antonio Ultra-Bold"/>
                <a:sym typeface="Antonio Ultra-Bold"/>
              </a:rPr>
              <a:t>QUARTERS</a:t>
            </a:r>
          </a:p>
        </p:txBody>
      </p:sp>
      <p:pic>
        <p:nvPicPr>
          <p:cNvPr name="Picture 3" id="3"/>
          <p:cNvPicPr>
            <a:picLocks noChangeAspect="true"/>
          </p:cNvPicPr>
          <p:nvPr/>
        </p:nvPicPr>
        <p:blipFill>
          <a:blip r:embed="rId2"/>
          <a:stretch>
            <a:fillRect/>
          </a:stretch>
        </p:blipFill>
        <p:spPr>
          <a:xfrm rot="0">
            <a:off x="1610148" y="3741591"/>
            <a:ext cx="7384340" cy="3239760"/>
          </a:xfrm>
          <a:prstGeom prst="rect">
            <a:avLst/>
          </a:prstGeom>
        </p:spPr>
      </p:pic>
      <p:sp>
        <p:nvSpPr>
          <p:cNvPr name="TextBox 4" id="4"/>
          <p:cNvSpPr txBox="true"/>
          <p:nvPr/>
        </p:nvSpPr>
        <p:spPr>
          <a:xfrm rot="0">
            <a:off x="9458801" y="3734014"/>
            <a:ext cx="6513055" cy="2631975"/>
          </a:xfrm>
          <a:prstGeom prst="rect">
            <a:avLst/>
          </a:prstGeom>
        </p:spPr>
        <p:txBody>
          <a:bodyPr anchor="t" rtlCol="false" tIns="0" lIns="0" bIns="0" rIns="0">
            <a:spAutoFit/>
          </a:bodyPr>
          <a:lstStyle/>
          <a:p>
            <a:pPr algn="l" marL="0" indent="0" lvl="0">
              <a:lnSpc>
                <a:spcPts val="3505"/>
              </a:lnSpc>
              <a:spcBef>
                <a:spcPct val="0"/>
              </a:spcBef>
            </a:pPr>
            <a:r>
              <a:rPr lang="en-US" sz="2503" spc="50">
                <a:solidFill>
                  <a:srgbClr val="000000"/>
                </a:solidFill>
                <a:latin typeface="Raleway"/>
                <a:ea typeface="Raleway"/>
                <a:cs typeface="Raleway"/>
                <a:sym typeface="Raleway"/>
              </a:rPr>
              <a:t>Over the span of 3 years I have noticed that we have a rough patch in 2024 but we were able to turn it around for the start of the 2025 year. From Q1 in 2022 I am happy to announce that we have made 1.3million dollars since then!! </a:t>
            </a:r>
          </a:p>
        </p:txBody>
      </p:sp>
      <p:sp>
        <p:nvSpPr>
          <p:cNvPr name="TextBox 5" id="5"/>
          <p:cNvSpPr txBox="true"/>
          <p:nvPr/>
        </p:nvSpPr>
        <p:spPr>
          <a:xfrm rot="0">
            <a:off x="1028700" y="8999927"/>
            <a:ext cx="3497259" cy="450072"/>
          </a:xfrm>
          <a:prstGeom prst="rect">
            <a:avLst/>
          </a:prstGeom>
        </p:spPr>
        <p:txBody>
          <a:bodyPr anchor="t" rtlCol="false" tIns="0" lIns="0" bIns="0" rIns="0">
            <a:spAutoFit/>
          </a:bodyPr>
          <a:lstStyle/>
          <a:p>
            <a:pPr algn="l" marL="0" indent="0" lvl="0">
              <a:lnSpc>
                <a:spcPts val="3542"/>
              </a:lnSpc>
              <a:spcBef>
                <a:spcPct val="0"/>
              </a:spcBef>
            </a:pPr>
            <a:r>
              <a:rPr lang="en-US" sz="2530" spc="242">
                <a:solidFill>
                  <a:srgbClr val="000000"/>
                </a:solidFill>
                <a:latin typeface="Raleway"/>
                <a:ea typeface="Raleway"/>
                <a:cs typeface="Raleway"/>
                <a:sym typeface="Raleway"/>
              </a:rPr>
              <a:t>EQUIPO 5</a:t>
            </a:r>
          </a:p>
        </p:txBody>
      </p:sp>
      <p:sp>
        <p:nvSpPr>
          <p:cNvPr name="TextBox 6" id="6"/>
          <p:cNvSpPr txBox="true"/>
          <p:nvPr/>
        </p:nvSpPr>
        <p:spPr>
          <a:xfrm rot="0">
            <a:off x="14213859" y="8999927"/>
            <a:ext cx="3045441" cy="450072"/>
          </a:xfrm>
          <a:prstGeom prst="rect">
            <a:avLst/>
          </a:prstGeom>
        </p:spPr>
        <p:txBody>
          <a:bodyPr anchor="t" rtlCol="false" tIns="0" lIns="0" bIns="0" rIns="0">
            <a:spAutoFit/>
          </a:bodyPr>
          <a:lstStyle/>
          <a:p>
            <a:pPr algn="r" marL="0" indent="0" lvl="0">
              <a:lnSpc>
                <a:spcPts val="3542"/>
              </a:lnSpc>
              <a:spcBef>
                <a:spcPct val="0"/>
              </a:spcBef>
            </a:pPr>
            <a:r>
              <a:rPr lang="en-US" sz="2530" spc="242">
                <a:solidFill>
                  <a:srgbClr val="000000"/>
                </a:solidFill>
                <a:latin typeface="Raleway"/>
                <a:ea typeface="Raleway"/>
                <a:cs typeface="Raleway"/>
                <a:sym typeface="Raleway"/>
              </a:rPr>
              <a:t>15.10.2030</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7251" y="3955845"/>
            <a:ext cx="4042005" cy="3031504"/>
          </a:xfrm>
          <a:custGeom>
            <a:avLst/>
            <a:gdLst/>
            <a:ahLst/>
            <a:cxnLst/>
            <a:rect r="r" b="b" t="t" l="l"/>
            <a:pathLst>
              <a:path h="3031504" w="4042005">
                <a:moveTo>
                  <a:pt x="0" y="0"/>
                </a:moveTo>
                <a:lnTo>
                  <a:pt x="4042004" y="0"/>
                </a:lnTo>
                <a:lnTo>
                  <a:pt x="4042004" y="3031503"/>
                </a:lnTo>
                <a:lnTo>
                  <a:pt x="0" y="3031503"/>
                </a:lnTo>
                <a:lnTo>
                  <a:pt x="0" y="0"/>
                </a:lnTo>
                <a:close/>
              </a:path>
            </a:pathLst>
          </a:custGeom>
          <a:blipFill>
            <a:blip r:embed="rId2"/>
            <a:stretch>
              <a:fillRect l="0" t="0" r="0" b="0"/>
            </a:stretch>
          </a:blipFill>
        </p:spPr>
      </p:sp>
      <p:sp>
        <p:nvSpPr>
          <p:cNvPr name="Freeform 3" id="3"/>
          <p:cNvSpPr/>
          <p:nvPr/>
        </p:nvSpPr>
        <p:spPr>
          <a:xfrm flipH="false" flipV="false" rot="0">
            <a:off x="4315418" y="3955845"/>
            <a:ext cx="5064283" cy="2927526"/>
          </a:xfrm>
          <a:custGeom>
            <a:avLst/>
            <a:gdLst/>
            <a:ahLst/>
            <a:cxnLst/>
            <a:rect r="r" b="b" t="t" l="l"/>
            <a:pathLst>
              <a:path h="2927526" w="5064283">
                <a:moveTo>
                  <a:pt x="0" y="0"/>
                </a:moveTo>
                <a:lnTo>
                  <a:pt x="5064284" y="0"/>
                </a:lnTo>
                <a:lnTo>
                  <a:pt x="5064284" y="2927526"/>
                </a:lnTo>
                <a:lnTo>
                  <a:pt x="0" y="2927526"/>
                </a:lnTo>
                <a:lnTo>
                  <a:pt x="0" y="0"/>
                </a:lnTo>
                <a:close/>
              </a:path>
            </a:pathLst>
          </a:custGeom>
          <a:blipFill>
            <a:blip r:embed="rId3"/>
            <a:stretch>
              <a:fillRect l="0" t="0" r="0" b="0"/>
            </a:stretch>
          </a:blipFill>
        </p:spPr>
      </p:sp>
      <p:sp>
        <p:nvSpPr>
          <p:cNvPr name="Freeform 4" id="4"/>
          <p:cNvSpPr/>
          <p:nvPr/>
        </p:nvSpPr>
        <p:spPr>
          <a:xfrm flipH="false" flipV="false" rot="0">
            <a:off x="9545865" y="4007833"/>
            <a:ext cx="3757720" cy="2927526"/>
          </a:xfrm>
          <a:custGeom>
            <a:avLst/>
            <a:gdLst/>
            <a:ahLst/>
            <a:cxnLst/>
            <a:rect r="r" b="b" t="t" l="l"/>
            <a:pathLst>
              <a:path h="2927526" w="3757720">
                <a:moveTo>
                  <a:pt x="0" y="0"/>
                </a:moveTo>
                <a:lnTo>
                  <a:pt x="3757720" y="0"/>
                </a:lnTo>
                <a:lnTo>
                  <a:pt x="3757720" y="2927526"/>
                </a:lnTo>
                <a:lnTo>
                  <a:pt x="0" y="2927526"/>
                </a:lnTo>
                <a:lnTo>
                  <a:pt x="0" y="0"/>
                </a:lnTo>
                <a:close/>
              </a:path>
            </a:pathLst>
          </a:custGeom>
          <a:blipFill>
            <a:blip r:embed="rId4"/>
            <a:stretch>
              <a:fillRect l="0" t="0" r="0" b="0"/>
            </a:stretch>
          </a:blipFill>
        </p:spPr>
      </p:sp>
      <p:sp>
        <p:nvSpPr>
          <p:cNvPr name="Freeform 5" id="5"/>
          <p:cNvSpPr/>
          <p:nvPr/>
        </p:nvSpPr>
        <p:spPr>
          <a:xfrm flipH="false" flipV="false" rot="0">
            <a:off x="13465510" y="3984913"/>
            <a:ext cx="3820972" cy="2869389"/>
          </a:xfrm>
          <a:custGeom>
            <a:avLst/>
            <a:gdLst/>
            <a:ahLst/>
            <a:cxnLst/>
            <a:rect r="r" b="b" t="t" l="l"/>
            <a:pathLst>
              <a:path h="2869389" w="3820972">
                <a:moveTo>
                  <a:pt x="0" y="0"/>
                </a:moveTo>
                <a:lnTo>
                  <a:pt x="3820972" y="0"/>
                </a:lnTo>
                <a:lnTo>
                  <a:pt x="3820972" y="2869389"/>
                </a:lnTo>
                <a:lnTo>
                  <a:pt x="0" y="2869389"/>
                </a:lnTo>
                <a:lnTo>
                  <a:pt x="0" y="0"/>
                </a:lnTo>
                <a:close/>
              </a:path>
            </a:pathLst>
          </a:custGeom>
          <a:blipFill>
            <a:blip r:embed="rId5"/>
            <a:stretch>
              <a:fillRect l="0" t="0" r="0" b="0"/>
            </a:stretch>
          </a:blipFill>
        </p:spPr>
      </p:sp>
      <p:sp>
        <p:nvSpPr>
          <p:cNvPr name="TextBox 6" id="6"/>
          <p:cNvSpPr txBox="true"/>
          <p:nvPr/>
        </p:nvSpPr>
        <p:spPr>
          <a:xfrm rot="0">
            <a:off x="-153729" y="8051800"/>
            <a:ext cx="14992588" cy="2727326"/>
          </a:xfrm>
          <a:prstGeom prst="rect">
            <a:avLst/>
          </a:prstGeom>
        </p:spPr>
        <p:txBody>
          <a:bodyPr anchor="t" rtlCol="false" tIns="0" lIns="0" bIns="0" rIns="0">
            <a:spAutoFit/>
          </a:bodyPr>
          <a:lstStyle/>
          <a:p>
            <a:pPr algn="l" marL="0" indent="0" lvl="0">
              <a:lnSpc>
                <a:spcPts val="20600"/>
              </a:lnSpc>
              <a:spcBef>
                <a:spcPct val="0"/>
              </a:spcBef>
            </a:pPr>
            <a:r>
              <a:rPr lang="en-US" b="true" sz="20000" spc="740">
                <a:solidFill>
                  <a:srgbClr val="000000"/>
                </a:solidFill>
                <a:latin typeface="Antonio Ultra-Bold"/>
                <a:ea typeface="Antonio Ultra-Bold"/>
                <a:cs typeface="Antonio Ultra-Bold"/>
                <a:sym typeface="Antonio Ultra-Bold"/>
              </a:rPr>
              <a:t>INSIGHTS</a:t>
            </a:r>
          </a:p>
        </p:txBody>
      </p:sp>
      <p:sp>
        <p:nvSpPr>
          <p:cNvPr name="TextBox 7" id="7"/>
          <p:cNvSpPr txBox="true"/>
          <p:nvPr/>
        </p:nvSpPr>
        <p:spPr>
          <a:xfrm rot="0">
            <a:off x="5070705" y="1423483"/>
            <a:ext cx="8960182" cy="1755675"/>
          </a:xfrm>
          <a:prstGeom prst="rect">
            <a:avLst/>
          </a:prstGeom>
        </p:spPr>
        <p:txBody>
          <a:bodyPr anchor="t" rtlCol="false" tIns="0" lIns="0" bIns="0" rIns="0">
            <a:spAutoFit/>
          </a:bodyPr>
          <a:lstStyle/>
          <a:p>
            <a:pPr algn="l" marL="0" indent="0" lvl="0">
              <a:lnSpc>
                <a:spcPts val="3505"/>
              </a:lnSpc>
              <a:spcBef>
                <a:spcPct val="0"/>
              </a:spcBef>
            </a:pPr>
            <a:r>
              <a:rPr lang="en-US" sz="2503" spc="50">
                <a:solidFill>
                  <a:srgbClr val="000000"/>
                </a:solidFill>
                <a:latin typeface="Raleway"/>
                <a:ea typeface="Raleway"/>
                <a:cs typeface="Raleway"/>
                <a:sym typeface="Raleway"/>
              </a:rPr>
              <a:t>After continuing my insights I have discovered that during the end of the year, the middle of the year and towards the start of the year are times that we are starting off poorly then we are able to increase our overall sales </a:t>
            </a:r>
          </a:p>
        </p:txBody>
      </p:sp>
    </p:spTree>
  </p:cSld>
  <p:clrMapOvr>
    <a:masterClrMapping/>
  </p:clrMapOvr>
</p:sld>
</file>

<file path=ppt/slides/slide6.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2512519" y="1564546"/>
            <a:ext cx="6513055" cy="1485458"/>
          </a:xfrm>
          <a:prstGeom prst="rect">
            <a:avLst/>
          </a:prstGeom>
        </p:spPr>
        <p:txBody>
          <a:bodyPr anchor="t" rtlCol="false" tIns="0" lIns="0" bIns="0" rIns="0">
            <a:spAutoFit/>
          </a:bodyPr>
          <a:lstStyle/>
          <a:p>
            <a:pPr algn="l">
              <a:lnSpc>
                <a:spcPts val="11330"/>
              </a:lnSpc>
            </a:pPr>
            <a:r>
              <a:rPr lang="en-US" sz="10689">
                <a:solidFill>
                  <a:srgbClr val="000000"/>
                </a:solidFill>
                <a:latin typeface="Antonio"/>
                <a:ea typeface="Antonio"/>
                <a:cs typeface="Antonio"/>
                <a:sym typeface="Antonio"/>
              </a:rPr>
              <a:t>SUGGESTIONS </a:t>
            </a:r>
          </a:p>
        </p:txBody>
      </p:sp>
      <p:graphicFrame>
        <p:nvGraphicFramePr>
          <p:cNvPr name="Table 3" id="3"/>
          <p:cNvGraphicFramePr>
            <a:graphicFrameLocks noGrp="true"/>
          </p:cNvGraphicFramePr>
          <p:nvPr/>
        </p:nvGraphicFramePr>
        <p:xfrm>
          <a:off x="9481285" y="3324225"/>
          <a:ext cx="7392970" cy="3638550"/>
        </p:xfrm>
        <a:graphic>
          <a:graphicData uri="http://schemas.openxmlformats.org/drawingml/2006/table">
            <a:tbl>
              <a:tblPr/>
              <a:tblGrid>
                <a:gridCol w="5589759"/>
              </a:tblGrid>
              <a:tr h="1107800">
                <a:tc>
                  <a:txBody>
                    <a:bodyPr anchor="t" rtlCol="false"/>
                    <a:lstStyle/>
                    <a:p>
                      <a:pPr algn="ctr">
                        <a:lnSpc>
                          <a:spcPts val="2520"/>
                        </a:lnSpc>
                        <a:defRPr/>
                      </a:pPr>
                      <a:r>
                        <a:rPr lang="en-US" sz="1800">
                          <a:solidFill>
                            <a:srgbClr val="000000"/>
                          </a:solidFill>
                          <a:latin typeface="Antonio"/>
                          <a:ea typeface="Antonio"/>
                          <a:cs typeface="Antonio"/>
                          <a:sym typeface="Antonio"/>
                        </a:rPr>
                        <a:t>For Summer time we can hold deals catered towards people relaxing, like bundling some of our tech accessories with our best sellers.</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r>
              <a:tr h="1422950">
                <a:tc>
                  <a:txBody>
                    <a:bodyPr anchor="t" rtlCol="false"/>
                    <a:lstStyle/>
                    <a:p>
                      <a:pPr algn="ctr">
                        <a:lnSpc>
                          <a:spcPts val="2520"/>
                        </a:lnSpc>
                        <a:defRPr/>
                      </a:pPr>
                      <a:r>
                        <a:rPr lang="en-US" sz="1800">
                          <a:solidFill>
                            <a:srgbClr val="000000"/>
                          </a:solidFill>
                          <a:latin typeface="Antonio"/>
                          <a:ea typeface="Antonio"/>
                          <a:cs typeface="Antonio"/>
                          <a:sym typeface="Antonio"/>
                        </a:rPr>
                        <a:t>For the end of the year we can hold movie nights that are about some of our more popular books to encourage buying.Breaking into the new year with a new book</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r>
              <a:tr h="1107800">
                <a:tc>
                  <a:txBody>
                    <a:bodyPr anchor="t" rtlCol="false"/>
                    <a:lstStyle/>
                    <a:p>
                      <a:pPr algn="ctr">
                        <a:lnSpc>
                          <a:spcPts val="2520"/>
                        </a:lnSpc>
                        <a:defRPr/>
                      </a:pPr>
                      <a:r>
                        <a:rPr lang="en-US" sz="1800">
                          <a:solidFill>
                            <a:srgbClr val="000000"/>
                          </a:solidFill>
                          <a:latin typeface="Antonio"/>
                          <a:ea typeface="Antonio"/>
                          <a:cs typeface="Antonio"/>
                          <a:sym typeface="Antonio"/>
                        </a:rPr>
                        <a:t>For the beginning of the year we can offer different bundled deals with books and apparel  </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r>
            </a:tbl>
          </a:graphicData>
        </a:graphic>
      </p:graphicFrame>
      <p:sp>
        <p:nvSpPr>
          <p:cNvPr name="TextBox 4" id="4"/>
          <p:cNvSpPr txBox="true"/>
          <p:nvPr/>
        </p:nvSpPr>
        <p:spPr>
          <a:xfrm rot="0">
            <a:off x="1742127" y="4506892"/>
            <a:ext cx="7442731" cy="1361449"/>
          </a:xfrm>
          <a:prstGeom prst="rect">
            <a:avLst/>
          </a:prstGeom>
        </p:spPr>
        <p:txBody>
          <a:bodyPr anchor="t" rtlCol="false" tIns="0" lIns="0" bIns="0" rIns="0">
            <a:spAutoFit/>
          </a:bodyPr>
          <a:lstStyle/>
          <a:p>
            <a:pPr algn="l">
              <a:lnSpc>
                <a:spcPts val="3643"/>
              </a:lnSpc>
            </a:pPr>
            <a:r>
              <a:rPr lang="en-US" sz="2803">
                <a:solidFill>
                  <a:srgbClr val="000000"/>
                </a:solidFill>
                <a:latin typeface="Antonio"/>
                <a:ea typeface="Antonio"/>
                <a:cs typeface="Antonio"/>
                <a:sym typeface="Antonio"/>
              </a:rPr>
              <a:t>After looking though the data I was able to come up with 3 different Suggestions that should be able to start us off at better at the start of quarters!!</a:t>
            </a:r>
          </a:p>
        </p:txBody>
      </p:sp>
    </p:spTree>
  </p:cSld>
  <p:clrMapOvr>
    <a:masterClrMapping/>
  </p:clrMapOvr>
</p:sld>
</file>

<file path=ppt/slides/slide7.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0" y="8051800"/>
            <a:ext cx="14801734" cy="2727326"/>
          </a:xfrm>
          <a:prstGeom prst="rect">
            <a:avLst/>
          </a:prstGeom>
        </p:spPr>
        <p:txBody>
          <a:bodyPr anchor="t" rtlCol="false" tIns="0" lIns="0" bIns="0" rIns="0">
            <a:spAutoFit/>
          </a:bodyPr>
          <a:lstStyle/>
          <a:p>
            <a:pPr algn="l" marL="0" indent="0" lvl="0">
              <a:lnSpc>
                <a:spcPts val="20600"/>
              </a:lnSpc>
              <a:spcBef>
                <a:spcPct val="0"/>
              </a:spcBef>
            </a:pPr>
            <a:r>
              <a:rPr lang="en-US" sz="20000" spc="740">
                <a:solidFill>
                  <a:srgbClr val="000000"/>
                </a:solidFill>
                <a:latin typeface="Antonio"/>
                <a:ea typeface="Antonio"/>
                <a:cs typeface="Antonio"/>
                <a:sym typeface="Antonio"/>
              </a:rPr>
              <a:t>OVER ALL</a:t>
            </a:r>
          </a:p>
        </p:txBody>
      </p:sp>
      <p:sp>
        <p:nvSpPr>
          <p:cNvPr name="TextBox 3" id="3"/>
          <p:cNvSpPr txBox="true"/>
          <p:nvPr/>
        </p:nvSpPr>
        <p:spPr>
          <a:xfrm rot="0">
            <a:off x="2225510" y="2162631"/>
            <a:ext cx="13836979" cy="1317525"/>
          </a:xfrm>
          <a:prstGeom prst="rect">
            <a:avLst/>
          </a:prstGeom>
        </p:spPr>
        <p:txBody>
          <a:bodyPr anchor="t" rtlCol="false" tIns="0" lIns="0" bIns="0" rIns="0">
            <a:spAutoFit/>
          </a:bodyPr>
          <a:lstStyle/>
          <a:p>
            <a:pPr algn="l" marL="0" indent="0" lvl="0">
              <a:lnSpc>
                <a:spcPts val="3505"/>
              </a:lnSpc>
              <a:spcBef>
                <a:spcPct val="0"/>
              </a:spcBef>
            </a:pPr>
            <a:r>
              <a:rPr lang="en-US" sz="2503" spc="50">
                <a:solidFill>
                  <a:srgbClr val="000000"/>
                </a:solidFill>
                <a:latin typeface="Raleway"/>
                <a:ea typeface="Raleway"/>
                <a:cs typeface="Raleway"/>
                <a:sym typeface="Raleway"/>
              </a:rPr>
              <a:t>I believe that if we offer more interactive deals during our weak points in the quarters we can strengthen foot traffic to our stores which in turn can lead to more revenue being generated across the board.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DAHNqgxqXv4</dc:identifier>
  <dcterms:modified xsi:type="dcterms:W3CDTF">2011-08-01T06:04:30Z</dcterms:modified>
  <cp:revision>1</cp:revision>
  <dc:title>EmporiUm</dc:title>
</cp:coreProperties>
</file>